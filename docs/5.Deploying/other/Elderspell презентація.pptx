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Montserrat" panose="020B0604020202020204" charset="-52"/>
      <p:regular r:id="rId14"/>
      <p:bold r:id="rId15"/>
      <p:italic r:id="rId16"/>
      <p:boldItalic r:id="rId17"/>
    </p:embeddedFont>
    <p:embeddedFont>
      <p:font typeface="Corbel" panose="020B0503020204020204" pitchFamily="34" charset="0"/>
      <p:regular r:id="rId18"/>
      <p:bold r:id="rId19"/>
      <p:italic r:id="rId20"/>
      <p:boldItalic r:id="rId21"/>
    </p:embeddedFont>
    <p:embeddedFont>
      <p:font typeface="Segoe UI Symbol" panose="020B0502040204020203" pitchFamily="34" charset="0"/>
      <p:regular r:id="rId22"/>
    </p:embeddedFont>
    <p:embeddedFont>
      <p:font typeface="Audiowide" panose="020B0604020202020204" charset="0"/>
      <p:regular r:id="rId23"/>
    </p:embeddedFont>
    <p:embeddedFont>
      <p:font typeface="Wide Latin" panose="020A0A07050505020404" pitchFamily="18" charset="0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756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c6c50aa063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c6c50aa063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c6c50aa063_0_3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c6c50aa063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c6c50aa063_0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c6c50aa063_0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c6c50aa063_0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c6c50aa063_0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c6c50aa063_0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c6c50aa063_0_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c6c50aa063_0_3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c6c50aa063_0_3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c6c50aa063_0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c6c50aa063_0_3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c6c50aa063_0_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c6c50aa063_0_3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c70af9acd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c70af9acd7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c6c50aa063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c6c50aa063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1544259"/>
            <a:ext cx="9146751" cy="137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" y="1624774"/>
            <a:ext cx="8603674" cy="1304510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4500" spc="113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997188"/>
            <a:ext cx="6858000" cy="981941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5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17499532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76611206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1544259"/>
            <a:ext cx="9146751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893" y="1656659"/>
            <a:ext cx="7886700" cy="12573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500" b="0" spc="113" baseline="0">
                <a:solidFill>
                  <a:schemeClr val="bg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893" y="3007751"/>
            <a:ext cx="7886700" cy="880979"/>
          </a:xfrm>
        </p:spPr>
        <p:txBody>
          <a:bodyPr anchor="t">
            <a:normAutofit/>
          </a:bodyPr>
          <a:lstStyle>
            <a:lvl1pPr marL="0" indent="0" algn="ctr">
              <a:buNone/>
              <a:defRPr sz="1500">
                <a:solidFill>
                  <a:schemeClr val="tx2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499152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08" y="1508760"/>
            <a:ext cx="3566160" cy="31546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2793" y="1508760"/>
            <a:ext cx="3566160" cy="31546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02512774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5256" y="1435102"/>
            <a:ext cx="3566160" cy="557321"/>
          </a:xfrm>
        </p:spPr>
        <p:txBody>
          <a:bodyPr anchor="ctr">
            <a:normAutofit/>
          </a:bodyPr>
          <a:lstStyle>
            <a:lvl1pPr marL="0" indent="0">
              <a:buNone/>
              <a:defRPr sz="157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5256" y="1992425"/>
            <a:ext cx="3566160" cy="267462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73423" y="1435102"/>
            <a:ext cx="3566160" cy="557321"/>
          </a:xfrm>
        </p:spPr>
        <p:txBody>
          <a:bodyPr anchor="ctr">
            <a:normAutofit/>
          </a:bodyPr>
          <a:lstStyle>
            <a:lvl1pPr marL="0" indent="0">
              <a:buNone/>
              <a:defRPr sz="157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73423" y="1992423"/>
            <a:ext cx="3566160" cy="267462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0747004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28213045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18472335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5256" y="1590041"/>
            <a:ext cx="4594860" cy="30861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41767" y="1610615"/>
            <a:ext cx="2400300" cy="257423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86878173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60120" y="1658621"/>
            <a:ext cx="4594860" cy="294894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43016" y="1612966"/>
            <a:ext cx="2400300" cy="257175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38844317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99556456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764484" y="0"/>
            <a:ext cx="20574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468" y="205978"/>
            <a:ext cx="1801785" cy="4423172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05978"/>
            <a:ext cx="5979968" cy="4423172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817141"/>
            <a:ext cx="2057397" cy="273844"/>
          </a:xfrm>
        </p:spPr>
        <p:txBody>
          <a:bodyPr/>
          <a:lstStyle/>
          <a:p>
            <a:fld id="{96DFF08F-DC6B-4601-B491-B0F83F6DD2DA}" type="datetimeFigureOut">
              <a:rPr lang="en-US" dirty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2102" y="4817141"/>
            <a:ext cx="3209752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4787" y="4817141"/>
            <a:ext cx="659819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89542428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2455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4459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4043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2" y="132082"/>
            <a:ext cx="9141714" cy="123443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2189" y="213132"/>
            <a:ext cx="7338060" cy="1131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2189" y="1508760"/>
            <a:ext cx="7338060" cy="3154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1699" y="4817141"/>
            <a:ext cx="2250671" cy="273844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788">
                <a:solidFill>
                  <a:schemeClr val="tx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97353" y="4817141"/>
            <a:ext cx="378333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94195" y="4817141"/>
            <a:ext cx="709698" cy="273844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7920825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mc:AlternateContent xmlns:mc="http://schemas.openxmlformats.org/markup-compatibility/2006" xmlns:p14="http://schemas.microsoft.com/office/powerpoint/2010/main">
    <mc:Choice Requires="p14">
      <p:transition spd="med">
        <p14:prism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tx1"/>
        </a:buClr>
        <a:buFont typeface="Wingdings" pitchFamily="2" charset="2"/>
        <a:buChar char="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65151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6345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0385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2175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5465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-452205" y="1871169"/>
            <a:ext cx="9201352" cy="8373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1" dirty="0" err="1" smtClean="0">
                <a:solidFill>
                  <a:schemeClr val="accent5">
                    <a:lumMod val="50000"/>
                  </a:schemeClr>
                </a:solidFill>
                <a:latin typeface="Wide Latin" panose="020A0A07050505020404" pitchFamily="18" charset="0"/>
              </a:rPr>
              <a:t>E</a:t>
            </a:r>
            <a:r>
              <a:rPr lang="en-US" sz="4400" b="1" i="1" dirty="0" err="1" smtClean="0">
                <a:solidFill>
                  <a:schemeClr val="accent5">
                    <a:lumMod val="50000"/>
                  </a:schemeClr>
                </a:solidFill>
                <a:latin typeface="Wide Latin" panose="020A0A07050505020404" pitchFamily="18" charset="0"/>
              </a:rPr>
              <a:t>lder</a:t>
            </a:r>
            <a:r>
              <a:rPr lang="en-US" sz="5400" b="1" i="1" dirty="0" err="1" smtClean="0">
                <a:solidFill>
                  <a:schemeClr val="accent5">
                    <a:lumMod val="50000"/>
                  </a:schemeClr>
                </a:solidFill>
                <a:latin typeface="Wide Latin" panose="020A0A07050505020404" pitchFamily="18" charset="0"/>
              </a:rPr>
              <a:t>S</a:t>
            </a:r>
            <a:r>
              <a:rPr lang="en-US" sz="4400" b="1" i="1" dirty="0" err="1">
                <a:solidFill>
                  <a:schemeClr val="accent5">
                    <a:lumMod val="50000"/>
                  </a:schemeClr>
                </a:solidFill>
                <a:latin typeface="Wide Latin" panose="020A0A07050505020404" pitchFamily="18" charset="0"/>
              </a:rPr>
              <a:t>pell</a:t>
            </a:r>
            <a:endParaRPr sz="3600" b="1" i="1" dirty="0">
              <a:solidFill>
                <a:schemeClr val="accent5">
                  <a:lumMod val="50000"/>
                </a:schemeClr>
              </a:solidFill>
              <a:latin typeface="Wide Latin" panose="020A0A07050505020404" pitchFamily="18" charset="0"/>
              <a:sym typeface="Audiowide"/>
            </a:endParaRPr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374072" y="2966996"/>
            <a:ext cx="6080400" cy="5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 dirty="0">
                <a:solidFill>
                  <a:srgbClr val="E6EDF3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Команда:</a:t>
            </a:r>
            <a:r>
              <a:rPr lang="ru" sz="1800" dirty="0">
                <a:solidFill>
                  <a:srgbClr val="E6EDF3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8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Prime Code</a:t>
            </a:r>
            <a:endParaRPr sz="1800" dirty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 dirty="0">
                <a:solidFill>
                  <a:srgbClr val="E6EDF3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Керівник:</a:t>
            </a:r>
            <a:r>
              <a:rPr lang="ru" sz="1800" b="1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ru" sz="18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БАБИЧ </a:t>
            </a:r>
            <a:r>
              <a:rPr lang="ru" sz="18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О.В.</a:t>
            </a:r>
            <a:endParaRPr sz="1800" dirty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pic>
        <p:nvPicPr>
          <p:cNvPr id="136" name="Google Shape;13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46" y="138128"/>
            <a:ext cx="1401763" cy="1122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>
            <a:spLocks noGrp="1"/>
          </p:cNvSpPr>
          <p:nvPr>
            <p:ph type="title"/>
          </p:nvPr>
        </p:nvSpPr>
        <p:spPr>
          <a:xfrm>
            <a:off x="1475509" y="359113"/>
            <a:ext cx="6380018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МЕТА ТА ЗАВДАННЯ</a:t>
            </a:r>
            <a:endParaRPr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Google Shape;142;p14"/>
          <p:cNvSpPr txBox="1">
            <a:spLocks noGrp="1"/>
          </p:cNvSpPr>
          <p:nvPr>
            <p:ph type="body" idx="1"/>
          </p:nvPr>
        </p:nvSpPr>
        <p:spPr>
          <a:xfrm>
            <a:off x="457199" y="1712102"/>
            <a:ext cx="8245816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Головна мета </a:t>
            </a:r>
            <a:r>
              <a:rPr lang="ru-RU" sz="2400" b="1" dirty="0" err="1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нашо</a:t>
            </a:r>
            <a:r>
              <a:rPr lang="uk-UA" sz="2400" b="1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ї роботи</a:t>
            </a:r>
            <a:r>
              <a:rPr lang="ru" sz="2400" b="1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–</a:t>
            </a:r>
            <a:r>
              <a:rPr lang="ru" sz="24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створити програмий продукт, для залучення </a:t>
            </a:r>
            <a:r>
              <a:rPr lang="ru" sz="24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уваги та зацікавлення </a:t>
            </a:r>
            <a:r>
              <a:rPr lang="ru" sz="24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абітурієнтів спеціальністю </a:t>
            </a:r>
            <a:r>
              <a:rPr lang="ru" sz="24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"Розробка програмного </a:t>
            </a:r>
            <a:r>
              <a:rPr lang="ru" sz="24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забезпечення".</a:t>
            </a:r>
            <a:endParaRPr sz="2400" dirty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0" indent="0" algn="just">
              <a:lnSpc>
                <a:spcPct val="115000"/>
              </a:lnSpc>
              <a:spcBef>
                <a:spcPts val="1800"/>
              </a:spcBef>
              <a:buNone/>
            </a:pPr>
            <a:r>
              <a:rPr lang="ru" sz="2400" b="1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Завдання – </a:t>
            </a:r>
            <a:r>
              <a:rPr lang="ru" sz="24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створити гру, </a:t>
            </a:r>
            <a:r>
              <a:rPr lang="uk-UA" sz="24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</a:rPr>
              <a:t>візуальну новелу у жанрі </a:t>
            </a:r>
            <a:r>
              <a:rPr lang="uk-UA" sz="2400" dirty="0" err="1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</a:rPr>
              <a:t>кіберпанк</a:t>
            </a:r>
            <a:r>
              <a:rPr lang="uk-UA" sz="24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</a:rPr>
              <a:t>, </a:t>
            </a:r>
            <a:r>
              <a:rPr lang="ru" sz="24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щоб ознайомити гравців із основами прогрмної розробки через ігровий процес.</a:t>
            </a:r>
            <a:endParaRPr sz="2400" dirty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 dirty="0">
              <a:solidFill>
                <a:srgbClr val="E6EDF3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>
            <a:spLocks noGrp="1"/>
          </p:cNvSpPr>
          <p:nvPr>
            <p:ph type="title"/>
          </p:nvPr>
        </p:nvSpPr>
        <p:spPr>
          <a:xfrm>
            <a:off x="2985655" y="386823"/>
            <a:ext cx="3214254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</a:t>
            </a:r>
            <a:endParaRPr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1177200" y="1612650"/>
            <a:ext cx="7815300" cy="21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3" y="1855429"/>
            <a:ext cx="9017739" cy="24881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>
            <a:spLocks noGrp="1"/>
          </p:cNvSpPr>
          <p:nvPr>
            <p:ph type="title"/>
          </p:nvPr>
        </p:nvSpPr>
        <p:spPr>
          <a:xfrm>
            <a:off x="251482" y="137441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750" b="1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МЕНЕДЖЕР ПРОГРАМИ,</a:t>
            </a:r>
            <a:br>
              <a:rPr lang="ru" sz="3750" b="1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" sz="3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МЕНЕДЖЕР ПРОДУКТУ</a:t>
            </a:r>
            <a:endParaRPr sz="3750" b="1" dirty="0">
              <a:solidFill>
                <a:srgbClr val="E6EDF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22" b="1" dirty="0" smtClean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Замараєва К.А.,</a:t>
            </a:r>
            <a:r>
              <a:rPr lang="ru" sz="1522" b="1" dirty="0" smtClean="0">
                <a:solidFill>
                  <a:srgbClr val="E6E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" sz="1522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Микитенко І.В.</a:t>
            </a:r>
            <a:endParaRPr sz="1522" b="1" dirty="0">
              <a:solidFill>
                <a:srgbClr val="E6EDF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Google Shape;155;p16"/>
          <p:cNvSpPr txBox="1">
            <a:spLocks noGrp="1"/>
          </p:cNvSpPr>
          <p:nvPr>
            <p:ph type="body" idx="1"/>
          </p:nvPr>
        </p:nvSpPr>
        <p:spPr>
          <a:xfrm>
            <a:off x="90054" y="2382981"/>
            <a:ext cx="5957453" cy="269149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3350" lvl="0" indent="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" sz="2400" b="1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Менеджер </a:t>
            </a:r>
            <a:r>
              <a:rPr lang="ru" sz="2400" b="1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програми</a:t>
            </a:r>
            <a:r>
              <a:rPr lang="ru" sz="24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:</a:t>
            </a:r>
            <a:r>
              <a:rPr lang="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/>
            </a:r>
            <a:br>
              <a:rPr lang="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</a:b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</a:p>
          <a:p>
            <a:pPr lvl="1" indent="-323850">
              <a:buSzPts val="1500"/>
              <a:buFont typeface="Segoe UI Symbol" panose="020B0502040204020203" pitchFamily="34" charset="0"/>
              <a:buChar char="☑"/>
            </a:pPr>
            <a:r>
              <a:rPr lang="uk-UA" sz="2000" dirty="0" err="1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розподіля</a:t>
            </a:r>
            <a:r>
              <a:rPr lang="ru-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ла</a:t>
            </a:r>
            <a:r>
              <a:rPr lang="uk-UA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завдання між ролями і слідкувала за їх виконанням;</a:t>
            </a:r>
            <a:endParaRPr lang="en-US" sz="2000" dirty="0" smtClean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lvl="1" indent="-323850">
              <a:buSzPts val="1500"/>
              <a:buFont typeface="Segoe UI Symbol" panose="020B0502040204020203" pitchFamily="34" charset="0"/>
              <a:buChar char="☑"/>
            </a:pPr>
            <a:r>
              <a:rPr lang="uk-UA" sz="2000" dirty="0" err="1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організовува</a:t>
            </a:r>
            <a:r>
              <a:rPr lang="ru-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ла</a:t>
            </a:r>
            <a:r>
              <a:rPr lang="uk-UA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робочий </a:t>
            </a:r>
            <a:r>
              <a:rPr lang="uk-UA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процес</a:t>
            </a:r>
            <a:r>
              <a:rPr lang="en-US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uk-UA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і долучалася до кожного етапу створення продукту;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Segoe UI Symbol" panose="020B0502040204020203" pitchFamily="34" charset="0"/>
              <a:buChar char="☑"/>
            </a:pPr>
            <a:r>
              <a:rPr lang="uk-UA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п</a:t>
            </a: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ридумала назву команди;</a:t>
            </a:r>
            <a:endParaRPr sz="2000" dirty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Segoe UI Symbol" panose="020B0502040204020203" pitchFamily="34" charset="0"/>
              <a:buChar char="☑"/>
            </a:pPr>
            <a:r>
              <a:rPr lang="en-US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</a:t>
            </a: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творила групу в </a:t>
            </a:r>
            <a:r>
              <a:rPr lang="en-US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Telegram </a:t>
            </a: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для </a:t>
            </a:r>
            <a:r>
              <a:rPr lang="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спілкування </a:t>
            </a: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команди, та створювала зустр</a:t>
            </a:r>
            <a:r>
              <a:rPr lang="uk-UA" sz="2000" dirty="0" err="1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ічі</a:t>
            </a:r>
            <a:r>
              <a:rPr lang="uk-UA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в </a:t>
            </a:r>
            <a:r>
              <a:rPr lang="en-US" sz="2000" dirty="0" err="1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GoogleMeet</a:t>
            </a:r>
            <a:r>
              <a:rPr lang="uk-UA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;</a:t>
            </a:r>
            <a:endParaRPr lang="ru-RU" sz="2000" dirty="0" smtClean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lvl="1" indent="-323850">
              <a:buSzPts val="1500"/>
              <a:buFont typeface="Segoe UI Symbol" panose="020B0502040204020203" pitchFamily="34" charset="0"/>
              <a:buChar char="☑"/>
            </a:pPr>
            <a:r>
              <a:rPr lang="ru-RU" sz="2000" dirty="0" err="1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в</a:t>
            </a:r>
            <a:r>
              <a:rPr lang="ru-RU" sz="2000" dirty="0" err="1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едення</a:t>
            </a:r>
            <a:r>
              <a:rPr lang="ru-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uk-UA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і допомога</a:t>
            </a:r>
            <a:r>
              <a:rPr lang="ru-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ru-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з </a:t>
            </a:r>
            <a:r>
              <a:rPr lang="ru-RU" sz="2000" dirty="0" err="1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документацією</a:t>
            </a:r>
            <a:r>
              <a:rPr lang="ru-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;</a:t>
            </a:r>
            <a:endParaRPr lang="ru-RU" sz="2000" dirty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lvl="1" indent="-323850">
              <a:buSzPts val="1500"/>
              <a:buFont typeface="Segoe UI Symbol" panose="020B0502040204020203" pitchFamily="34" charset="0"/>
              <a:buChar char="☑"/>
            </a:pPr>
            <a:r>
              <a:rPr lang="ru-RU" sz="2000" dirty="0" err="1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відповідала</a:t>
            </a:r>
            <a:r>
              <a:rPr lang="ru-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ru-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на </a:t>
            </a:r>
            <a:r>
              <a:rPr lang="ru-RU" sz="2000" dirty="0" err="1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питання</a:t>
            </a:r>
            <a:r>
              <a:rPr lang="ru-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команди</a:t>
            </a:r>
            <a:r>
              <a:rPr lang="ru-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;</a:t>
            </a:r>
          </a:p>
          <a:p>
            <a:pPr marL="590550" lvl="1" indent="0">
              <a:buSzPts val="1500"/>
              <a:buNone/>
            </a:pP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ー"/>
            </a:pPr>
            <a:endParaRPr lang="ru-RU" sz="1500" dirty="0" smtClean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590550" lvl="1" indent="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sz="1500" dirty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156" name="Google Shape;156;p16"/>
          <p:cNvSpPr txBox="1">
            <a:spLocks noGrp="1"/>
          </p:cNvSpPr>
          <p:nvPr>
            <p:ph type="body" idx="2"/>
          </p:nvPr>
        </p:nvSpPr>
        <p:spPr>
          <a:xfrm>
            <a:off x="5749656" y="1527627"/>
            <a:ext cx="3394344" cy="6406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3350" lvl="0" indent="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" sz="2400" b="1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Менеджер продукту: </a:t>
            </a:r>
            <a:r>
              <a:rPr lang="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існує</a:t>
            </a:r>
            <a:endParaRPr sz="2000" dirty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>
            <a:spLocks noGrp="1"/>
          </p:cNvSpPr>
          <p:nvPr>
            <p:ph type="body" idx="1"/>
          </p:nvPr>
        </p:nvSpPr>
        <p:spPr>
          <a:xfrm>
            <a:off x="403881" y="1359423"/>
            <a:ext cx="8573863" cy="3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69900" lvl="0" indent="-342900">
              <a:buSzPts val="1600"/>
              <a:buFont typeface="Segoe UI Symbol" panose="020B0502040204020203" pitchFamily="34" charset="0"/>
              <a:buChar char="☑"/>
            </a:pPr>
            <a:r>
              <a:rPr lang="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використано </a:t>
            </a:r>
            <a:r>
              <a:rPr lang="en-US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</a:rPr>
              <a:t>Unreal Engine 5</a:t>
            </a:r>
            <a:r>
              <a:rPr lang="ru-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</a:rPr>
              <a:t>;</a:t>
            </a:r>
          </a:p>
          <a:p>
            <a:pPr marL="469900" lvl="0" indent="-342900">
              <a:buSzPts val="1600"/>
              <a:buFont typeface="Segoe UI Symbol" panose="020B0502040204020203" pitchFamily="34" charset="0"/>
              <a:buChar char="☑"/>
            </a:pP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реалізація </a:t>
            </a:r>
            <a:r>
              <a:rPr lang="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різних аспектів гри (рух персонажів, здоров’я персонажів, взаємодія з оточенням, бій з ворогами</a:t>
            </a: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);</a:t>
            </a:r>
            <a:endParaRPr sz="2000" dirty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469900" lvl="0" indent="-342900" algn="l" rtl="0">
              <a:spcBef>
                <a:spcPts val="0"/>
              </a:spcBef>
              <a:spcAft>
                <a:spcPts val="0"/>
              </a:spcAft>
              <a:buSzPts val="1600"/>
              <a:buFont typeface="Segoe UI Symbol" panose="020B0502040204020203" pitchFamily="34" charset="0"/>
              <a:buChar char="☑"/>
            </a:pPr>
            <a:r>
              <a:rPr lang="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реалізація ігрових механік (видача квестів та збір карток пам’яті для їх виконання</a:t>
            </a: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);</a:t>
            </a:r>
            <a:endParaRPr sz="2000" dirty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469900" lvl="0" indent="-342900" algn="l" rtl="0">
              <a:spcBef>
                <a:spcPts val="0"/>
              </a:spcBef>
              <a:spcAft>
                <a:spcPts val="0"/>
              </a:spcAft>
              <a:buSzPts val="1600"/>
              <a:buFont typeface="Segoe UI Symbol" panose="020B0502040204020203" pitchFamily="34" charset="0"/>
              <a:buChar char="☑"/>
            </a:pPr>
            <a:r>
              <a:rPr lang="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створення елементів інтерфейсу (меню, </a:t>
            </a: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кнопки і тд);</a:t>
            </a:r>
            <a:endParaRPr sz="2000" dirty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469900" lvl="0" indent="-342900" algn="l" rtl="0">
              <a:spcBef>
                <a:spcPts val="0"/>
              </a:spcBef>
              <a:spcAft>
                <a:spcPts val="0"/>
              </a:spcAft>
              <a:buSzPts val="1600"/>
              <a:buFont typeface="Segoe UI Symbol" panose="020B0502040204020203" pitchFamily="34" charset="0"/>
              <a:buChar char="☑"/>
            </a:pPr>
            <a:r>
              <a:rPr lang="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створення локації (навколишнє середовище, розташування ключових об’єктів</a:t>
            </a: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);</a:t>
            </a:r>
            <a:endParaRPr sz="2000" dirty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469900" lvl="0" indent="-342900" algn="l" rtl="0">
              <a:spcBef>
                <a:spcPts val="0"/>
              </a:spcBef>
              <a:spcAft>
                <a:spcPts val="0"/>
              </a:spcAft>
              <a:buSzPts val="1600"/>
              <a:buFont typeface="Segoe UI Symbol" panose="020B0502040204020203" pitchFamily="34" charset="0"/>
              <a:buChar char="☑"/>
            </a:pPr>
            <a:r>
              <a:rPr lang="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оптимізація </a:t>
            </a: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продукту;</a:t>
            </a:r>
            <a:endParaRPr sz="2000" dirty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469900" lvl="0" indent="-342900" algn="l" rtl="0">
              <a:spcBef>
                <a:spcPts val="0"/>
              </a:spcBef>
              <a:spcAft>
                <a:spcPts val="0"/>
              </a:spcAft>
              <a:buClr>
                <a:srgbClr val="ECECEC"/>
              </a:buClr>
              <a:buSzPts val="1600"/>
              <a:buFont typeface="Segoe UI Symbol" panose="020B0502040204020203" pitchFamily="34" charset="0"/>
              <a:buChar char="☑"/>
            </a:pPr>
            <a:r>
              <a:rPr lang="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виправлення </a:t>
            </a: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помилок.</a:t>
            </a:r>
            <a:endParaRPr sz="2000" dirty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6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Результат: </a:t>
            </a:r>
            <a:r>
              <a:rPr lang="ru" sz="16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працююча гра, </a:t>
            </a:r>
            <a:r>
              <a:rPr lang="uk-U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яка 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надає приємний ігровий досвід та в легкій, ненав’язливій формі знайомить з нашою спеціальністю у жанрі </a:t>
            </a:r>
            <a:r>
              <a:rPr lang="uk-UA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кіберпанк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З гарним сюжетом, діалогами та приємним візуальним оформленням</a:t>
            </a:r>
            <a:r>
              <a:rPr lang="uk-U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k-UA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154;p16"/>
          <p:cNvSpPr txBox="1">
            <a:spLocks noGrp="1"/>
          </p:cNvSpPr>
          <p:nvPr>
            <p:ph type="title"/>
          </p:nvPr>
        </p:nvSpPr>
        <p:spPr>
          <a:xfrm>
            <a:off x="293046" y="-91159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750" b="1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" sz="3750" b="1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Розробники</a:t>
            </a:r>
            <a:endParaRPr sz="4000" b="1" dirty="0">
              <a:solidFill>
                <a:srgbClr val="E6EDF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Амбросов Д.М., Зубко В.Ю.,</a:t>
            </a:r>
            <a:endParaRPr sz="1800" b="1" dirty="0">
              <a:solidFill>
                <a:srgbClr val="E6EDF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>
            <a:spLocks noGrp="1"/>
          </p:cNvSpPr>
          <p:nvPr>
            <p:ph type="body" idx="1"/>
          </p:nvPr>
        </p:nvSpPr>
        <p:spPr>
          <a:xfrm>
            <a:off x="660191" y="1804800"/>
            <a:ext cx="8192864" cy="33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63550" lvl="0" indent="-342900" algn="l" rtl="0">
              <a:spcBef>
                <a:spcPts val="0"/>
              </a:spcBef>
              <a:spcAft>
                <a:spcPts val="0"/>
              </a:spcAft>
              <a:buSzPts val="1700"/>
              <a:buFont typeface="Segoe UI Symbol" panose="020B0502040204020203" pitchFamily="34" charset="0"/>
              <a:buChar char="☑"/>
            </a:pPr>
            <a:r>
              <a:rPr lang="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комплексне тестування різноманітними </a:t>
            </a: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методами;</a:t>
            </a:r>
            <a:endParaRPr sz="2000" dirty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463550" lvl="0" indent="-342900" algn="l" rtl="0">
              <a:spcBef>
                <a:spcPts val="0"/>
              </a:spcBef>
              <a:spcAft>
                <a:spcPts val="0"/>
              </a:spcAft>
              <a:buSzPts val="1700"/>
              <a:buFont typeface="Segoe UI Symbol" panose="020B0502040204020203" pitchFamily="34" charset="0"/>
              <a:buChar char="☑"/>
            </a:pPr>
            <a:r>
              <a:rPr lang="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перевіряли функціональність </a:t>
            </a: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гри:</a:t>
            </a:r>
            <a:endParaRPr sz="2000" dirty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920750" lvl="1" indent="-342900" algn="l" rtl="0">
              <a:spcBef>
                <a:spcPts val="0"/>
              </a:spcBef>
              <a:spcAft>
                <a:spcPts val="0"/>
              </a:spcAft>
              <a:buSzPts val="1700"/>
              <a:buFont typeface="Arial" panose="020B0604020202020204" pitchFamily="34" charset="0"/>
              <a:buChar char="•"/>
            </a:pPr>
            <a:r>
              <a:rPr lang="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відповідність вимогам та </a:t>
            </a: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специфікаціям;</a:t>
            </a:r>
            <a:endParaRPr sz="2000" dirty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920750" lvl="1" indent="-342900" algn="l" rtl="0">
              <a:spcBef>
                <a:spcPts val="0"/>
              </a:spcBef>
              <a:spcAft>
                <a:spcPts val="0"/>
              </a:spcAft>
              <a:buSzPts val="1700"/>
              <a:buFont typeface="Arial" panose="020B0604020202020204" pitchFamily="34" charset="0"/>
              <a:buChar char="•"/>
            </a:pPr>
            <a:r>
              <a:rPr lang="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коректність роботи ігрових </a:t>
            </a: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функцій;</a:t>
            </a:r>
            <a:endParaRPr sz="2000" dirty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463550" lvl="0" indent="-342900" algn="l" rtl="0">
              <a:spcBef>
                <a:spcPts val="0"/>
              </a:spcBef>
              <a:spcAft>
                <a:spcPts val="0"/>
              </a:spcAft>
              <a:buSzPts val="1700"/>
              <a:buFont typeface="Segoe UI Symbol" panose="020B0502040204020203" pitchFamily="34" charset="0"/>
              <a:buChar char="☑"/>
            </a:pPr>
            <a:r>
              <a:rPr lang="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аналізували взаємодію користувача з </a:t>
            </a: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ігровим середовищем </a:t>
            </a:r>
            <a:r>
              <a:rPr lang="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(тестування інтерфейсу</a:t>
            </a: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);</a:t>
            </a:r>
            <a:endParaRPr sz="2000" dirty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463550" lvl="0" indent="-342900" algn="l" rtl="0">
              <a:spcBef>
                <a:spcPts val="0"/>
              </a:spcBef>
              <a:spcAft>
                <a:spcPts val="0"/>
              </a:spcAft>
              <a:buSzPts val="1700"/>
              <a:buFont typeface="Segoe UI Symbol" panose="020B0502040204020203" pitchFamily="34" charset="0"/>
              <a:buChar char="☑"/>
            </a:pPr>
            <a:r>
              <a:rPr lang="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випробовували гру на різних платформах </a:t>
            </a:r>
            <a:br>
              <a:rPr lang="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</a:br>
            <a:r>
              <a:rPr lang="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(тестування сумісності</a:t>
            </a: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);</a:t>
            </a:r>
            <a:endParaRPr sz="2000" dirty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463550" lvl="0" indent="-342900" algn="l" rtl="0">
              <a:spcBef>
                <a:spcPts val="0"/>
              </a:spcBef>
              <a:spcAft>
                <a:spcPts val="0"/>
              </a:spcAft>
              <a:buSzPts val="1700"/>
              <a:buFont typeface="Segoe UI Symbol" panose="020B0502040204020203" pitchFamily="34" charset="0"/>
              <a:buChar char="☑"/>
            </a:pPr>
            <a:r>
              <a:rPr lang="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документували результати </a:t>
            </a: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тестування.</a:t>
            </a:r>
            <a:endParaRPr sz="2000" dirty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5" name="Google Shape;154;p16"/>
          <p:cNvSpPr txBox="1">
            <a:spLocks noGrp="1"/>
          </p:cNvSpPr>
          <p:nvPr>
            <p:ph type="title"/>
          </p:nvPr>
        </p:nvSpPr>
        <p:spPr>
          <a:xfrm>
            <a:off x="293046" y="-91159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750" b="1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" sz="3750" b="1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Тестувальники</a:t>
            </a:r>
            <a:endParaRPr sz="4000" b="1" dirty="0">
              <a:solidFill>
                <a:srgbClr val="E6EDF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Маслич О.О., Мальцев М.А., АВРаменко О.В., Базарба</a:t>
            </a:r>
            <a:r>
              <a:rPr lang="uk-UA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єв</a:t>
            </a:r>
            <a:r>
              <a:rPr lang="uk-UA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А.Ш.</a:t>
            </a:r>
            <a:endParaRPr sz="1800" b="1" dirty="0">
              <a:solidFill>
                <a:srgbClr val="E6EDF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54;p16"/>
          <p:cNvSpPr txBox="1">
            <a:spLocks noGrp="1"/>
          </p:cNvSpPr>
          <p:nvPr>
            <p:ph type="title"/>
          </p:nvPr>
        </p:nvSpPr>
        <p:spPr>
          <a:xfrm>
            <a:off x="293046" y="-91159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750" b="1" dirty="0" smtClean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" sz="3750" b="1" dirty="0" smtClean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75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UX-</a:t>
            </a:r>
            <a:r>
              <a:rPr lang="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Спеціалісти</a:t>
            </a:r>
            <a:endParaRPr sz="4000" b="1" dirty="0" smtClean="0">
              <a:solidFill>
                <a:srgbClr val="E6EDF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Богомаз Е.А., Лютий д.Г.,</a:t>
            </a:r>
            <a:endParaRPr sz="1800" b="1" dirty="0">
              <a:solidFill>
                <a:srgbClr val="E6EDF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Google Shape;175;p19"/>
          <p:cNvSpPr txBox="1">
            <a:spLocks noGrp="1"/>
          </p:cNvSpPr>
          <p:nvPr>
            <p:ph type="body" idx="1"/>
          </p:nvPr>
        </p:nvSpPr>
        <p:spPr>
          <a:xfrm>
            <a:off x="535500" y="1474105"/>
            <a:ext cx="8185936" cy="341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63392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3"/>
              <a:buFont typeface="Segoe UI Symbol" panose="020B0502040204020203" pitchFamily="34" charset="0"/>
              <a:buChar char="☑"/>
            </a:pPr>
            <a:r>
              <a:rPr lang="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визначали рамки проекту, функціональні вимоги та потреби </a:t>
            </a: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користувачів;</a:t>
            </a:r>
          </a:p>
          <a:p>
            <a:pPr marL="463392" indent="-342900">
              <a:lnSpc>
                <a:spcPct val="115000"/>
              </a:lnSpc>
              <a:buSzPts val="1703"/>
              <a:buFont typeface="Segoe UI Symbol" panose="020B0502040204020203" pitchFamily="34" charset="0"/>
              <a:buChar char="☑"/>
            </a:pPr>
            <a:r>
              <a:rPr lang="uk-UA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розробили інтерфейс користувача</a:t>
            </a:r>
            <a:r>
              <a:rPr lang="uk-UA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;</a:t>
            </a:r>
            <a:endParaRPr sz="2000" dirty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463392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3"/>
              <a:buFont typeface="Segoe UI Symbol" panose="020B0502040204020203" pitchFamily="34" charset="0"/>
              <a:buChar char="☑"/>
            </a:pP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створили </a:t>
            </a:r>
            <a:r>
              <a:rPr lang="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прототип </a:t>
            </a: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інтерфейсу;</a:t>
            </a:r>
            <a:endParaRPr sz="2000" dirty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463392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3"/>
              <a:buFont typeface="Segoe UI Symbol" panose="020B0502040204020203" pitchFamily="34" charset="0"/>
              <a:buChar char="☑"/>
            </a:pPr>
            <a:r>
              <a:rPr lang="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спланували основні складові підтримки та навчання </a:t>
            </a: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користувачів;</a:t>
            </a:r>
            <a:endParaRPr sz="2000" dirty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463392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3"/>
              <a:buFont typeface="Segoe UI Symbol" panose="020B0502040204020203" pitchFamily="34" charset="0"/>
              <a:buChar char="☑"/>
            </a:pPr>
            <a:r>
              <a:rPr lang="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працювали з </a:t>
            </a: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документацією;</a:t>
            </a:r>
          </a:p>
          <a:p>
            <a:pPr marL="463392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3"/>
              <a:buFont typeface="Segoe UI Symbol" panose="020B0502040204020203" pitchFamily="34" charset="0"/>
              <a:buChar char="☑"/>
            </a:pPr>
            <a:r>
              <a:rPr lang="uk-UA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с</a:t>
            </a: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творювали д</a:t>
            </a:r>
            <a:r>
              <a:rPr lang="uk-UA" sz="2000" dirty="0" err="1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іаграми</a:t>
            </a:r>
            <a:r>
              <a:rPr lang="uk-UA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;</a:t>
            </a:r>
            <a:endParaRPr sz="2000" dirty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463392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3"/>
              <a:buFont typeface="Segoe UI Symbol" panose="020B0502040204020203" pitchFamily="34" charset="0"/>
              <a:buChar char="☑"/>
            </a:pPr>
            <a:r>
              <a:rPr lang="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розробили інтерфейс </a:t>
            </a: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користувача.</a:t>
            </a:r>
          </a:p>
          <a:p>
            <a:pPr marL="120492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3"/>
              <a:buNone/>
            </a:pPr>
            <a:endParaRPr sz="2000" dirty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>
            <a:spLocks noGrp="1"/>
          </p:cNvSpPr>
          <p:nvPr>
            <p:ph type="body" idx="1"/>
          </p:nvPr>
        </p:nvSpPr>
        <p:spPr>
          <a:xfrm>
            <a:off x="651164" y="1847686"/>
            <a:ext cx="7754509" cy="27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63550" lvl="0" indent="-342900" algn="l" rtl="0">
              <a:spcBef>
                <a:spcPts val="0"/>
              </a:spcBef>
              <a:spcAft>
                <a:spcPts val="0"/>
              </a:spcAft>
              <a:buSzPts val="1700"/>
              <a:buFont typeface="Segoe UI Symbol" panose="020B0502040204020203" pitchFamily="34" charset="0"/>
              <a:buChar char="☑"/>
            </a:pPr>
            <a:r>
              <a:rPr lang="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створив довідку з використання продукту;</a:t>
            </a:r>
            <a:endParaRPr sz="2000" dirty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463550" lvl="0" indent="-342900" algn="l" rtl="0">
              <a:spcBef>
                <a:spcPts val="0"/>
              </a:spcBef>
              <a:spcAft>
                <a:spcPts val="0"/>
              </a:spcAft>
              <a:buSzPts val="1700"/>
              <a:buFont typeface="Segoe UI Symbol" panose="020B0502040204020203" pitchFamily="34" charset="0"/>
              <a:buChar char="☑"/>
            </a:pPr>
            <a:r>
              <a:rPr lang="uk-UA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з</a:t>
            </a: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дійснив </a:t>
            </a:r>
            <a:r>
              <a:rPr lang="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пілотне впровадження, заповнив в</a:t>
            </a:r>
            <a:r>
              <a:rPr lang="uk-UA" sz="2000" dirty="0" err="1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ідповідний</a:t>
            </a:r>
            <a:r>
              <a:rPr lang="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звіт; </a:t>
            </a:r>
            <a:endParaRPr sz="2000" dirty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463550" lvl="0" indent="-342900" algn="l" rtl="0">
              <a:spcBef>
                <a:spcPts val="0"/>
              </a:spcBef>
              <a:spcAft>
                <a:spcPts val="0"/>
              </a:spcAft>
              <a:buSzPts val="1700"/>
              <a:buFont typeface="Segoe UI Symbol" panose="020B0502040204020203" pitchFamily="34" charset="0"/>
              <a:buChar char="☑"/>
            </a:pPr>
            <a:r>
              <a:rPr lang="uk-UA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с</a:t>
            </a: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творив анкету відгуків; </a:t>
            </a:r>
            <a:endParaRPr sz="2000" dirty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463550" lvl="0" indent="-342900" algn="l" rtl="0">
              <a:spcBef>
                <a:spcPts val="0"/>
              </a:spcBef>
              <a:spcAft>
                <a:spcPts val="0"/>
              </a:spcAft>
              <a:buSzPts val="1700"/>
              <a:buFont typeface="Segoe UI Symbol" panose="020B0502040204020203" pitchFamily="34" charset="0"/>
              <a:buChar char="☑"/>
            </a:pP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виконав </a:t>
            </a:r>
            <a:r>
              <a:rPr lang="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аналіз </a:t>
            </a: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відгуків; </a:t>
            </a:r>
            <a:endParaRPr sz="2000" dirty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463550" lvl="0" indent="-342900" algn="l" rtl="0">
              <a:spcBef>
                <a:spcPts val="0"/>
              </a:spcBef>
              <a:spcAft>
                <a:spcPts val="0"/>
              </a:spcAft>
              <a:buSzPts val="1700"/>
              <a:buFont typeface="Segoe UI Symbol" panose="020B0502040204020203" pitchFamily="34" charset="0"/>
              <a:buChar char="☑"/>
            </a:pP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працював </a:t>
            </a:r>
            <a:r>
              <a:rPr lang="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з </a:t>
            </a: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документацією;</a:t>
            </a:r>
          </a:p>
          <a:p>
            <a:pPr marL="463550" lvl="0" indent="-342900" algn="l" rtl="0">
              <a:spcBef>
                <a:spcPts val="0"/>
              </a:spcBef>
              <a:spcAft>
                <a:spcPts val="0"/>
              </a:spcAft>
              <a:buSzPts val="1700"/>
              <a:buFont typeface="Segoe UI Symbol" panose="020B0502040204020203" pitchFamily="34" charset="0"/>
              <a:buChar char="☑"/>
            </a:pP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розгорнув </a:t>
            </a:r>
            <a:r>
              <a:rPr lang="ru" sz="20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продукт в  GitHub </a:t>
            </a:r>
            <a:r>
              <a:rPr lang="ru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та</a:t>
            </a:r>
            <a:r>
              <a:rPr lang="en-US" sz="2000" dirty="0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Gamejolt</a:t>
            </a:r>
            <a:r>
              <a:rPr lang="en-US" sz="200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.</a:t>
            </a:r>
            <a:endParaRPr sz="2000" dirty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5" name="Google Shape;154;p16"/>
          <p:cNvSpPr txBox="1">
            <a:spLocks noGrp="1"/>
          </p:cNvSpPr>
          <p:nvPr>
            <p:ph type="title"/>
          </p:nvPr>
        </p:nvSpPr>
        <p:spPr>
          <a:xfrm>
            <a:off x="293046" y="-91159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750" b="1" dirty="0" smtClean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" sz="3750" b="1" dirty="0" smtClean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375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Спеціаліст з розгортання</a:t>
            </a:r>
            <a:endParaRPr sz="4000" b="1" dirty="0" smtClean="0">
              <a:solidFill>
                <a:srgbClr val="E6EDF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Карп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ru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як </a:t>
            </a:r>
            <a:r>
              <a:rPr lang="ru-RU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В.С.</a:t>
            </a:r>
            <a:endParaRPr sz="1800" b="1" dirty="0">
              <a:solidFill>
                <a:srgbClr val="E6EDF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>
            <a:spLocks noGrp="1"/>
          </p:cNvSpPr>
          <p:nvPr>
            <p:ph type="body" idx="1"/>
          </p:nvPr>
        </p:nvSpPr>
        <p:spPr>
          <a:xfrm>
            <a:off x="85226" y="1420951"/>
            <a:ext cx="8975646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Під час навчальної практики з технології розробки програмного забезпечення ми мали можливість здобути цінний досвід командної роботи, планування та організації діяльності. Отримані знання сприяли розвитку професійних навичок і вміння ефективно співпрацювати з колегами</a:t>
            </a:r>
            <a:r>
              <a:rPr lang="uk-U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Важливою складовою роботи в команді є розуміння значущості кожної ролі. Кожен учасник </a:t>
            </a:r>
            <a:r>
              <a:rPr lang="uk-UA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проєкту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володіє унікальними знаннями та вміннями, які роблять внесок у загальний успіх. </a:t>
            </a:r>
            <a:endParaRPr lang="uk-UA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Завдяки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проходженню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практики ми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збагатилися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новими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знаннями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досвідом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безперечно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стануть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нагоді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подальших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професійних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проєктах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діяльності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Отримані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навички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допоможуть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ефективно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працювати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організовувати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робочий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мотивувати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себе й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інших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досягнення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поставлених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цілей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k-UA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154;p16"/>
          <p:cNvSpPr txBox="1">
            <a:spLocks noGrp="1"/>
          </p:cNvSpPr>
          <p:nvPr>
            <p:ph type="title"/>
          </p:nvPr>
        </p:nvSpPr>
        <p:spPr>
          <a:xfrm>
            <a:off x="2863064" y="0"/>
            <a:ext cx="3537736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750" b="1" dirty="0" smtClean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" sz="3750" b="1" dirty="0" smtClean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375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Висновки</a:t>
            </a:r>
            <a:endParaRPr sz="4000" b="1" dirty="0" smtClean="0">
              <a:solidFill>
                <a:srgbClr val="E6EDF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>
            <a:spLocks noGrp="1"/>
          </p:cNvSpPr>
          <p:nvPr>
            <p:ph type="title"/>
          </p:nvPr>
        </p:nvSpPr>
        <p:spPr>
          <a:xfrm>
            <a:off x="4851450" y="2041000"/>
            <a:ext cx="42927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600" b="1"/>
              <a:t>ДЕМО</a:t>
            </a:r>
            <a:endParaRPr sz="4600" b="1"/>
          </a:p>
        </p:txBody>
      </p:sp>
      <p:sp>
        <p:nvSpPr>
          <p:cNvPr id="6" name="Google Shape;154;p16"/>
          <p:cNvSpPr txBox="1">
            <a:spLocks/>
          </p:cNvSpPr>
          <p:nvPr/>
        </p:nvSpPr>
        <p:spPr>
          <a:xfrm>
            <a:off x="1172810" y="144368"/>
            <a:ext cx="7038900" cy="9141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82500" lnSpcReduction="10000"/>
          </a:bodyPr>
          <a:lstStyle>
            <a:lvl1pPr lvl="0" algn="l" defTabSz="6858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 kern="1200" cap="all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ru-RU" sz="3750" b="1" dirty="0" smtClean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750" b="1" dirty="0" smtClean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5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Посилання</a:t>
            </a:r>
            <a:r>
              <a:rPr lang="ru-RU" sz="375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375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репозиторій</a:t>
            </a:r>
            <a:endParaRPr lang="ru-RU" sz="1800" b="1" dirty="0">
              <a:solidFill>
                <a:srgbClr val="E6EDF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336965" y="4375257"/>
            <a:ext cx="63592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https://github.com/KseniaZamaraeva/PrimeCode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4928" y="1464317"/>
            <a:ext cx="2941085" cy="28203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54;p16"/>
          <p:cNvSpPr txBox="1">
            <a:spLocks/>
          </p:cNvSpPr>
          <p:nvPr/>
        </p:nvSpPr>
        <p:spPr>
          <a:xfrm>
            <a:off x="1115291" y="75094"/>
            <a:ext cx="7047927" cy="118566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90000" lnSpcReduction="10000"/>
          </a:bodyPr>
          <a:lstStyle>
            <a:lvl1pPr lvl="0" algn="l" defTabSz="6858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 kern="1200" cap="all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ru-RU" sz="3750" b="1" dirty="0" smtClean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750" b="1" dirty="0" smtClean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53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Дякуємо</a:t>
            </a:r>
            <a:r>
              <a:rPr lang="ru-RU" sz="5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53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увагу</a:t>
            </a:r>
            <a:r>
              <a:rPr lang="ru-RU" sz="5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ru-RU" sz="1800" b="1" dirty="0">
              <a:solidFill>
                <a:srgbClr val="E6EDF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154;p16"/>
          <p:cNvSpPr txBox="1">
            <a:spLocks/>
          </p:cNvSpPr>
          <p:nvPr/>
        </p:nvSpPr>
        <p:spPr>
          <a:xfrm>
            <a:off x="2495917" y="2347240"/>
            <a:ext cx="7038900" cy="9141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90000" lnSpcReduction="20000"/>
          </a:bodyPr>
          <a:lstStyle>
            <a:lvl1pPr lvl="0" algn="l" defTabSz="6858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 kern="1200" cap="all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ru-RU" sz="3750" b="1" dirty="0" smtClean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750" b="1" dirty="0" smtClean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5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Приємної</a:t>
            </a:r>
            <a:r>
              <a:rPr lang="ru-RU" sz="375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75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гри</a:t>
            </a:r>
            <a:endParaRPr lang="ru-RU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каймление">
  <a:themeElements>
    <a:clrScheme name="Окаймление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Окаймление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Окаймлени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Окаймление">
    <a:dk1>
      <a:srgbClr val="2C2C2C"/>
    </a:dk1>
    <a:lt1>
      <a:srgbClr val="FFFFFF"/>
    </a:lt1>
    <a:dk2>
      <a:srgbClr val="099BDD"/>
    </a:dk2>
    <a:lt2>
      <a:srgbClr val="F2F2F2"/>
    </a:lt2>
    <a:accent1>
      <a:srgbClr val="FFC000"/>
    </a:accent1>
    <a:accent2>
      <a:srgbClr val="A5D028"/>
    </a:accent2>
    <a:accent3>
      <a:srgbClr val="08CC78"/>
    </a:accent3>
    <a:accent4>
      <a:srgbClr val="F24099"/>
    </a:accent4>
    <a:accent5>
      <a:srgbClr val="828288"/>
    </a:accent5>
    <a:accent6>
      <a:srgbClr val="F56617"/>
    </a:accent6>
    <a:hlink>
      <a:srgbClr val="005DBA"/>
    </a:hlink>
    <a:folHlink>
      <a:srgbClr val="6C606A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</TotalTime>
  <Words>515</Words>
  <Application>Microsoft Office PowerPoint</Application>
  <PresentationFormat>Экран (16:9)</PresentationFormat>
  <Paragraphs>64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20" baseType="lpstr">
      <vt:lpstr>Montserrat</vt:lpstr>
      <vt:lpstr>Corbel</vt:lpstr>
      <vt:lpstr>Arial</vt:lpstr>
      <vt:lpstr>Wingdings</vt:lpstr>
      <vt:lpstr>Times New Roman</vt:lpstr>
      <vt:lpstr>Segoe UI Symbol</vt:lpstr>
      <vt:lpstr>Audiowide</vt:lpstr>
      <vt:lpstr>Wide Latin</vt:lpstr>
      <vt:lpstr>Окаймление</vt:lpstr>
      <vt:lpstr>ElderSpell</vt:lpstr>
      <vt:lpstr>МЕТА ТА ЗАВДАННЯ</vt:lpstr>
      <vt:lpstr>КОМАНДА</vt:lpstr>
      <vt:lpstr>МЕНЕДЖЕР ПРОГРАМИ, МЕНЕДЖЕР ПРОДУКТУ Замараєва К.А., Микитенко І.В.</vt:lpstr>
      <vt:lpstr> Розробники Амбросов Д.М., Зубко В.Ю.,</vt:lpstr>
      <vt:lpstr> Тестувальники Маслич О.О., Мальцев М.А., АВРаменко О.В., Базарбаєв А.Ш.</vt:lpstr>
      <vt:lpstr> UX-Спеціалісти Богомаз Е.А., Лютий д.Г.,</vt:lpstr>
      <vt:lpstr> Спеціаліст з розгортання Карп’як В.С.</vt:lpstr>
      <vt:lpstr> Висновки</vt:lpstr>
      <vt:lpstr>ДЕМО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Кіберпанк 2069</dc:title>
  <dc:creator>olena</dc:creator>
  <cp:lastModifiedBy>olenashalikova@outlook.com</cp:lastModifiedBy>
  <cp:revision>14</cp:revision>
  <dcterms:modified xsi:type="dcterms:W3CDTF">2025-03-21T18:57:09Z</dcterms:modified>
</cp:coreProperties>
</file>